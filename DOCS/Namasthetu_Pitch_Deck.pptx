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85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42850"/>
                </a:solidFill>
                <a:latin typeface="Arial"/>
              </a:rPr>
              <a:t>Gross revenue by stream (₹ crore)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Consumer Trust Pass</c:v>
                </c:pt>
              </c:strCache>
            </c:strRef>
          </c:tx>
          <c:spPr>
            <a:solidFill>
              <a:srgbClr val="D98E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5.27</c:v>
                </c:pt>
                <c:pt idx="1">
                  <c:v>23.8</c:v>
                </c:pt>
                <c:pt idx="2">
                  <c:v>69.7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Seller Verification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2.94</c:v>
                </c:pt>
                <c:pt idx="1">
                  <c:v>12.8</c:v>
                </c:pt>
                <c:pt idx="2">
                  <c:v>36.55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Escrow Take-Rate</c:v>
                </c:pt>
              </c:strCache>
            </c:strRef>
          </c:tx>
          <c:spPr>
            <a:solidFill>
              <a:srgbClr val="1428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3.38</c:v>
                </c:pt>
                <c:pt idx="1">
                  <c:v>15.75</c:v>
                </c:pt>
                <c:pt idx="2">
                  <c:v>51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B2B Institutional APIs</c:v>
                </c:pt>
              </c:strCache>
            </c:strRef>
          </c:tx>
          <c:spPr>
            <a:solidFill>
              <a:srgbClr val="8FA6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1.8</c:v>
                </c:pt>
                <c:pt idx="1">
                  <c:v>8.5</c:v>
                </c:pt>
                <c:pt idx="2">
                  <c:v>24.2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VAS &amp; Mortgage DSA</c:v>
                </c:pt>
              </c:strCache>
            </c:strRef>
          </c:tx>
          <c:spPr>
            <a:solidFill>
              <a:srgbClr val="C9A6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1.45</c:v>
                </c:pt>
                <c:pt idx="1">
                  <c:v>7.15</c:v>
                </c:pt>
                <c:pt idx="2">
                  <c:v>22.8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1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43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389120"/>
            <a:ext cx="2926080" cy="2926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965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NAMASTHETU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517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Trust-as-a-Service Real Estate Clearinghouse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2926080" cy="0"/>
          </a:xfrm>
          <a:prstGeom prst="line">
            <a:avLst/>
          </a:prstGeom>
          <a:noFill/>
          <a:ln w="25400">
            <a:solidFill>
              <a:srgbClr val="D98E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52044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4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broker lead-generation with an institutional-grade verification, escrow, and data clearinghouse for India's $300B+ real estate asset class, growing to $1 trillion by 2030.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989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 Cycle Labs Private Limited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founders@namasthetu.com   ·   Bengaluru, India   ·   www.namasthetu.in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portals monetize the fraud, not the fix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99acres, MagicBricks and Housing.com earn more when brokers upload duplicate, inflated, or phantom listings — a textbook Akerlof “market for lemons.”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7F5F0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supply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611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 of listings are unverified or outright fraudulent — buyers can't trust what they see.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224028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7F5F0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7720" y="2514600"/>
            <a:ext cx="502920" cy="50292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1772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diligence tax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611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waste 4–6 months on manual due diligence before they can trust a single listing.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0" y="224028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7F5F0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2514600"/>
            <a:ext cx="502920" cy="50292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0392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friction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3611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 extract 2–4% of GMV in fees while assuming zero liability for what they sell.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75488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4285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7548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4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₹1.5 Cr Bengaluru apartment, transacting parties lose ₹6,00,000 to middleman commissions — for zero verification and zero liability.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Namasthetu replaces the advertising bulletin board with an institutional-grade transaction clearinghouse — NASDAQ for physical real estate.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NAMASTHETU  ·  The Problem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$120B market, narrowing to a fundable 36-month target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47120" cy="1051560"/>
          </a:xfrm>
          <a:prstGeom prst="roundRect">
            <a:avLst>
              <a:gd name="adj" fmla="val 6087"/>
            </a:avLst>
          </a:prstGeom>
          <a:solidFill>
            <a:srgbClr val="14285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470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4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$120B annual residential transaction GMV  ·  $4.8B / ₹40,000 Cr annual brokerage &amp; diligence fee pool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691640" y="3017520"/>
            <a:ext cx="8778240" cy="1051560"/>
          </a:xfrm>
          <a:prstGeom prst="roundRect">
            <a:avLst>
              <a:gd name="adj" fmla="val 6087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965960" y="31272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4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metro resale &amp; lease (BLR, MMR, NCR, Hyderabad, Pune, Chennai): $42B GMV  ·  $1.68B / ₹14,000 Cr fee pool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26080" y="4297680"/>
            <a:ext cx="6309360" cy="1051560"/>
          </a:xfrm>
          <a:prstGeom prst="roundRect">
            <a:avLst>
              <a:gd name="adj" fmla="val 6087"/>
            </a:avLst>
          </a:prstGeom>
          <a:solidFill>
            <a:srgbClr val="D98E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00400" y="44074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(36-mo)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47548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 penetration in BLR/HYD/PUN/NCR: ₹12,250 Cr GMV ($1.47B)  →  ₹148.5 Cr ($17.8M) net platform revenue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5715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Brokerage friction: </a:t>
            </a:r>
            <a:pPr indent="0" marL="0"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resale commission is 4% of GMV (2% buyer + 2% seller).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 diligence spend: </a:t>
            </a:r>
            <a:pPr indent="0" marL="0">
              <a:buNone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~1.4M home loans/yr, ₹3,500–₹6,000 manual scrutiny each — a ₹650+ Cr annual sinkhole.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NAMASTHETU  ·  Market Size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proofs, standardized into one Property Intelligence Profile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7F5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35000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physical asset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718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civil engineers run 80-point non-destructive testing (ultrasound, thermal dampness, laser leveling) plus 3D Gaussian Splatting digital-twin capture.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21488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1428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235000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legal chain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9718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registry verification against Kaveri 2.0 / Bhoomi / CERSAI, cross-referenced via Decentro, confirming a 30-year unencumbered title.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21488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7F5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03920" y="235000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solvency &amp; settlement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297180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escrow (ICICI / Razorpay Nodal) holds earnest deposits through the contingency window and settles on digital deed execution.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52628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D98E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452628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Target: 8x+ LTV:CAC  ·  72% blended gross margin  ·  ₹100+ Cr ($12M) ARR within 24 months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UI: free discovery layer (map, price, Trust Score) is public and SEO-indexed; the 20-page engineering report, deed chain, and owner contact sit behind a frosted-glass paywall.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NAMASTHETU  ·  Product &amp; Solution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engines, monetizing every stage of the property lifecycle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47120" cy="2743200"/>
        </p:xfrm>
        <a:graphic>
          <a:graphicData uri="http://schemas.openxmlformats.org/drawingml/2006/table">
            <a:tbl>
              <a:tblPr/>
              <a:tblGrid>
                <a:gridCol w="1920240"/>
                <a:gridCol w="4572000"/>
                <a:gridCol w="274320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Onboarding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 verification (civil audit + 3D twin)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₹2,499–₹4,999 / property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52–57%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Discovery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Trust Pass (hero product)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₹299 single · ₹999/mo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96–98%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Closing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Escrow conveyancing settlement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0.5–1.0% of GMV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84–88.5%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B2B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Lender / insurer verification APIs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₹500–₹2,500 / query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92–95%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Ancillary VAS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Mortgage DSA, e-stamp, moving/insurance rake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0.35–0.5% of loan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72–78%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709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₹1.5 Cr resale on Namasthetu: 0.5% platform take-rate = ₹75,000 total — vs. ₹4,50,000 in traditional 3% brokerage. Net client saving: ₹3,75,000.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539496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point of failure — revenue at every lifecycle stage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 per unlock: ₹4.80 (98.4% Stream-1 margin)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pay upfront — negative working-capital cycle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NAMASTHETU  ·  Business Model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blended 9x LTV:CAC, realized inside 12 months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6675120" cy="4206240"/>
        </p:xfrm>
        <a:graphic>
          <a:graphicData uri="http://schemas.openxmlformats.org/drawingml/2006/table">
            <a:tbl>
              <a:tblPr/>
              <a:tblGrid>
                <a:gridCol w="4663440"/>
                <a:gridCol w="2011680"/>
              </a:tblGrid>
              <a:tr h="467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5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Blended CAC (organic + targeted geo)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Trust Pass / unlock revenue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Escrow take-rate (5% weighted probability)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₹37,500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Mortgage referral (8% weighted probability)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₹44,000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Ancillary rental / e-stamp / moves (25% probability)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 realized LTV (12 months)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₹7,694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LTV : CAC ratio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9.05x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 period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— Day 0 on Pass purchase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60920" y="1737360"/>
            <a:ext cx="4343400" cy="4206240"/>
          </a:xfrm>
          <a:prstGeom prst="roundRect">
            <a:avLst>
              <a:gd name="adj" fmla="val 1739"/>
            </a:avLst>
          </a:prstGeom>
          <a:solidFill>
            <a:srgbClr val="F7F5F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89520" y="19202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minimization strategy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2377440"/>
            <a:ext cx="3886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ULPIN/address SEO flywheel — every verified PIP is an indexed, high-intent landing page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paid bidding on junk keywords like “flats in bangalore”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virality — sellers share their public PIP link to prove verified status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NAMASTHETU  ·  Unit Economics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3-year pro forma: ₹14.8 Cr → ₹204 Cr gross revenue</a:t>
            </a:r>
            <a:endParaRPr lang="en-US" sz="2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4114800"/>
        </p:xfrm>
        <a:graphic>
          <a:graphicData uri="http://schemas.openxmlformats.org/drawingml/2006/table">
            <a:tbl>
              <a:tblPr/>
              <a:tblGrid>
                <a:gridCol w="3017520"/>
                <a:gridCol w="2743200"/>
                <a:gridCol w="2743200"/>
                <a:gridCol w="274320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Y1 — FY25 (BLR)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Y2 — FY26 (+HYD, PUN)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Y3 — FY27 (+MMR, NCR)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5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properties onboarded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GMV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₹675 Cr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₹3,150 Cr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₹10,200 Cr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gross revenue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₹14.84 Cr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₹68.00 Cr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₹204.25 Cr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OPEX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₹10.10 Cr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₹29.30 Cr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₹68.00 Cr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(margin)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₹3.08 Cr (20.8%)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₹31.94 Cr (47.0%)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₹117.99 Cr (57.8%)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profit — PAT (margin)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₹2.30 Cr (15.5%)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₹23.89 Cr (35.1%)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₹88.49 Cr (43.3%)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revenue growth: +358% (Y2), +200% (Y3)  ·  Total COGS stays under 12% of revenue throughout.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NAMASTHETU  ·  Financials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MIX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five engines scale together — no single stream dominates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91640"/>
          <a:ext cx="112471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gross revenue: ₹14.84 Cr (Y1) → ₹68.00 Cr (Y2) → ₹204.25 Cr (Y3).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NAMASTHETU  ·  Revenue Mix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different economic model, not a better version of theirs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3429000"/>
        </p:xfrm>
        <a:graphic>
          <a:graphicData uri="http://schemas.openxmlformats.org/drawingml/2006/table">
            <a:tbl>
              <a:tblPr/>
              <a:tblGrid>
                <a:gridCol w="2103120"/>
                <a:gridCol w="2377440"/>
                <a:gridCol w="2103120"/>
                <a:gridCol w="2194560"/>
                <a:gridCol w="2468880"/>
              </a:tblGrid>
              <a:tr h="489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99acres / MagicBricks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NoBroker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Square Yards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Namasthetu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C7293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model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 &amp; broker leads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subscription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brokerage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Trust-as-a-service + escrow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 authenticity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&lt;20% authentic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Uninspected C2C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push inventory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physically &amp; legally verified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Civil inspection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80-point NDT audit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Deed &amp; encumbrance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In-house legal push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Kaveri 2.0 audit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Take-rate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(lead fee)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₹3k–15k RM fee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2–3% commission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 transparent rake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~60%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~55%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~35%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88–91%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21208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14285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52120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4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moat: proprietary structural + registry data compounds with scale, MoHUA/RERA crackdowns favor audit-trailed platforms, and bank LOS integrations create high switching costs.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NAMASTHETU  ·  Competitive Positioning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RESILIENCE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Stress-tested against a real-estate downturn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47120" cy="2377440"/>
        </p:xfrm>
        <a:graphic>
          <a:graphicData uri="http://schemas.openxmlformats.org/drawingml/2006/table">
            <a:tbl>
              <a:tblPr/>
              <a:tblGrid>
                <a:gridCol w="3200400"/>
                <a:gridCol w="2011680"/>
                <a:gridCol w="2011680"/>
                <a:gridCol w="201168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 (Y2 / FY26)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conv.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GMV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5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 case (–40% volume)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₹1,890 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₹41.2 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₹14.8 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case (target)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₹3,150 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₹68.0 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₹31.9 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High-growth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₹4,500 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₹94.5 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₹49.1 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Severe downturn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₹1,250 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₹28.5 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₹6.2 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protections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5488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Counter-cyclical demand — downturns make buyers more risk-averse, increasing demand for inspection and title verification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working-capital cycle — sellers and buyers pay upfront, before reports are delivered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float efficiency — nodal balances earn tier-1 interchange and fee rebates from banking partners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NAMASTHETU  ·  Risk &amp; Resilience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Bengaluru pilot → South tech hubs → pan-India Tier-1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611880" cy="3749040"/>
          </a:xfrm>
          <a:prstGeom prst="roundRect">
            <a:avLst>
              <a:gd name="adj" fmla="val 2025"/>
            </a:avLst>
          </a:prstGeom>
          <a:solidFill>
            <a:srgbClr val="14285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0574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 · FY25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23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Bengaluru pilot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2926080"/>
            <a:ext cx="31546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1089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Whitefield, Bellandur, HSR, Indiranagar, Sarjapur, North BLR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4805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8,400 verified properties, 450 closed escrow deals, ₹14.84 Cr revenue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70248" y="1874520"/>
            <a:ext cx="3611880" cy="3749040"/>
          </a:xfrm>
          <a:prstGeom prst="roundRect">
            <a:avLst>
              <a:gd name="adj" fmla="val 2025"/>
            </a:avLst>
          </a:prstGeom>
          <a:solidFill>
            <a:srgbClr val="F7F5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98848" y="20574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 · FY26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2423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 tech hubs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498848" y="2926080"/>
            <a:ext cx="3154680" cy="0"/>
          </a:xfrm>
          <a:prstGeom prst="line">
            <a:avLst/>
          </a:prstGeom>
          <a:noFill/>
          <a:ln w="12700">
            <a:solidFill>
              <a:srgbClr val="D98E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98848" y="31089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+ Hyderabad + Pune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498848" y="44805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32,000 verified properties, 2,100 closed deals, ₹68.0 Cr revenue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83296" y="1874520"/>
            <a:ext cx="3611880" cy="3749040"/>
          </a:xfrm>
          <a:prstGeom prst="roundRect">
            <a:avLst>
              <a:gd name="adj" fmla="val 2025"/>
            </a:avLst>
          </a:prstGeom>
          <a:solidFill>
            <a:srgbClr val="F7F5F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11896" y="20574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 · FY27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311896" y="2423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Pan-India Tier-1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311896" y="2926080"/>
            <a:ext cx="3154680" cy="0"/>
          </a:xfrm>
          <a:prstGeom prst="line">
            <a:avLst/>
          </a:prstGeom>
          <a:noFill/>
          <a:ln w="12700">
            <a:solidFill>
              <a:srgbClr val="D98E3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11896" y="31089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Mumbai MMR + Delhi NCR (5 metros)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311896" y="44805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85,000 verified properties, 6,800 closed deals, ₹204.25 Cr revenue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NAMASTHETU  ·  Go-to-Market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/ Pre-Series A: ₹12.5 Cr ($1.5M) — 18-month runway to ₹25 Cr ARR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2286000"/>
        </p:xfrm>
        <a:graphic>
          <a:graphicData uri="http://schemas.openxmlformats.org/drawingml/2006/table">
            <a:tbl>
              <a:tblPr/>
              <a:tblGrid>
                <a:gridCol w="3291840"/>
                <a:gridCol w="2011680"/>
                <a:gridCol w="5943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objective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8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&amp; AI infrastructure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 (₹4.75 Cr)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NeRF/Gaussian pipeline, PostGIS tuning, automated decoders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inspector network &amp; LQA ops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 (₹3.25 Cr)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 150 chartered civil engineers in Bengaluru &amp; Hyderabad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Hyperlocal trust marketing &amp; brand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24% (₹3.00 Cr)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SEO flywheel, residential community activations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Regulatory, legal &amp; escrow reserve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 (₹1.50 Cr)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Banking nodal guarantees &amp; RERA legal compliance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 to Series 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5488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6: 1,200 active verified listings in Bengaluru; ₹1.80 Cr monthly gross run-rate; 5,000 active Trust Passes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12: Launch Hyderabad &amp; Pune; ₹4.5 Cr MRR; first 2 institutional bank API contracts signed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18: Breakeven at unit level; ₹68 Cr ARR; ready for a $10–15M Series A at $60–80M valuation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NAMASTHETU  ·  Use of Funds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Hue Cycle Labs — infrastructure for founders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440680" cy="1737360"/>
          </a:xfrm>
          <a:prstGeom prst="roundRect">
            <a:avLst>
              <a:gd name="adj" fmla="val 3684"/>
            </a:avLst>
          </a:prstGeom>
          <a:solidFill>
            <a:srgbClr val="F7F5F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488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F/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3055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/ CEO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49631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product vision, banking &amp; lender partnerships, and fundraising. Final sign-off on strategy and brand.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5440680" cy="1737360"/>
          </a:xfrm>
          <a:prstGeom prst="roundRect">
            <a:avLst>
              <a:gd name="adj" fmla="val 3684"/>
            </a:avLst>
          </a:prstGeom>
          <a:solidFill>
            <a:srgbClr val="F7F5F0"/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0" y="21488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F/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13055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/ CTO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249631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technical architecture — verification pipeline, escrow integrations, NeRF/Gaussian-splat AI stack.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5440680" cy="1737360"/>
          </a:xfrm>
          <a:prstGeom prst="roundRect">
            <a:avLst>
              <a:gd name="adj" fmla="val 3684"/>
            </a:avLst>
          </a:prstGeom>
          <a:solidFill>
            <a:srgbClr val="F7F5F0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4160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14223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City Inspector Ops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50799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Recruits and manages the chartered civil-engineer network running 80-point NDT audits city by city.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886200"/>
            <a:ext cx="5440680" cy="1737360"/>
          </a:xfrm>
          <a:prstGeom prst="roundRect">
            <a:avLst>
              <a:gd name="adj" fmla="val 3684"/>
            </a:avLst>
          </a:prstGeom>
          <a:solidFill>
            <a:srgbClr val="F7F5F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41605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224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414223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partner: Hue Cycle Labs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223760" y="450799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delivery partner executing the platform build and post-launch operations.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58521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roles for this round: Head of Bank/NBFC Partnerships, Head of Spatial AI, VP Legal &amp; Compliance.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NAMASTHETU  ·  Team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8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96596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Namasthetu is not an ad network; it is an institutional clearinghouse for the largest asset class in India — replacing broker commissions with a frictionless 0.5% digital take-rate.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3794760"/>
            <a:ext cx="2926080" cy="0"/>
          </a:xfrm>
          <a:prstGeom prst="line">
            <a:avLst/>
          </a:prstGeom>
          <a:noFill/>
          <a:ln w="25400">
            <a:solidFill>
              <a:srgbClr val="D98E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40233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$300B+ market  ·  5 revenue engines  ·  88–91% gross margins  ·  9x LTV:CAC  ·  ₹204 Cr Y3 revenue path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5669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talk.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F4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founders@namasthetu.com   ·   ir@namasthetu.com   ·   Bengaluru, India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2026-09-10T23:30:56Z</dcterms:created>
  <dcterms:modified xsi:type="dcterms:W3CDTF">2026-09-10T23:30:56Z</dcterms:modified>
</cp:coreProperties>
</file>